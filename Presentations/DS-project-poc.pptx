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presProps.xml" ContentType="application/vnd.openxmlformats-officedocument.presentationml.presProps+xml"/>
  <Override PartName="/ppt/media/image1.jpeg" ContentType="image/jpeg"/>
  <Override PartName="/ppt/media/image2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47640" y="1181160"/>
            <a:ext cx="6864480" cy="358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120000"/>
              </a:lnSpc>
              <a:buNone/>
            </a:pPr>
            <a:r>
              <a:rPr b="0" lang="en-US" sz="3600" spc="300" strike="noStrike" u="none" cap="all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b="0" lang="en-IL" sz="36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652320" y="6332400"/>
            <a:ext cx="30060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8034120" y="6332400"/>
            <a:ext cx="35049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11444760" y="6332400"/>
            <a:ext cx="53928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AECFE02-C192-4252-A83A-0A47712C4179}" type="slidenum">
              <a: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2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the outline text format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1" marL="864000" indent="-324000">
              <a:lnSpc>
                <a:spcPct val="12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L" sz="16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Second Outline Level</a:t>
            </a:r>
            <a:endParaRPr b="0" lang="en-IL" sz="16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2" marL="1296000" indent="-288000">
              <a:lnSpc>
                <a:spcPct val="12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L" sz="14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Third Outline Level</a:t>
            </a:r>
            <a:endParaRPr b="0" lang="en-IL" sz="14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3" marL="1728000" indent="-216000">
              <a:lnSpc>
                <a:spcPct val="12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L" sz="14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Fourth Outline Level</a:t>
            </a:r>
            <a:endParaRPr b="0" lang="en-IL" sz="14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4" marL="2160000" indent="-2160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Fifth Outline Level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5" marL="2592000" indent="-2160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Sixth Outline Level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6" marL="3024000" indent="-2160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Seventh Outline Level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52320" y="647640"/>
            <a:ext cx="10625040" cy="1146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buNone/>
            </a:pPr>
            <a:r>
              <a:rPr b="0" lang="en-US" sz="3600" spc="300" strike="noStrike" u="none" cap="all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b="0" lang="en-IL" sz="36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652320" y="2095560"/>
            <a:ext cx="10620360" cy="3847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</a:t>
            </a: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Master text </a:t>
            </a: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styles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1" marL="6858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Second level</a:t>
            </a:r>
            <a:endParaRPr b="0" lang="en-IL" sz="18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2" marL="11430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Third level</a:t>
            </a:r>
            <a:endParaRPr b="0" lang="en-IL" sz="16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3" marL="16002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Fourth </a:t>
            </a: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level</a:t>
            </a:r>
            <a:endParaRPr b="0" lang="en-IL" sz="14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4" marL="20574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Fi</a:t>
            </a: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ft</a:t>
            </a: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h </a:t>
            </a: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le</a:t>
            </a: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v</a:t>
            </a: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el</a:t>
            </a:r>
            <a:endParaRPr b="0" lang="en-IL" sz="14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dt" idx="4"/>
          </p:nvPr>
        </p:nvSpPr>
        <p:spPr>
          <a:xfrm>
            <a:off x="652320" y="6332400"/>
            <a:ext cx="30060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ftr" idx="5"/>
          </p:nvPr>
        </p:nvSpPr>
        <p:spPr>
          <a:xfrm>
            <a:off x="8034120" y="6332400"/>
            <a:ext cx="35049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sldNum" idx="6"/>
          </p:nvPr>
        </p:nvSpPr>
        <p:spPr>
          <a:xfrm>
            <a:off x="11444760" y="6332400"/>
            <a:ext cx="53928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F779D69-96D9-41B9-BF93-9241E2C1E42D}" type="slidenum">
              <a: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8986680" y="647640"/>
            <a:ext cx="2290680" cy="529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 vert="eaVert">
            <a:noAutofit/>
          </a:bodyPr>
          <a:p>
            <a:pPr indent="0" defTabSz="914400">
              <a:lnSpc>
                <a:spcPct val="120000"/>
              </a:lnSpc>
              <a:buNone/>
            </a:pPr>
            <a:r>
              <a:rPr b="0" lang="en-US" sz="3600" spc="300" strike="noStrike" u="none" cap="all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b="0" lang="en-IL" sz="36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652320" y="647640"/>
            <a:ext cx="8120520" cy="529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1" marL="6858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Second level</a:t>
            </a:r>
            <a:endParaRPr b="0" lang="en-IL" sz="18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2" marL="11430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Third level</a:t>
            </a:r>
            <a:endParaRPr b="0" lang="en-IL" sz="16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3" marL="16002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Fourth level</a:t>
            </a:r>
            <a:endParaRPr b="0" lang="en-IL" sz="14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4" marL="20574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Fifth level</a:t>
            </a:r>
            <a:endParaRPr b="0" lang="en-IL" sz="14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dt" idx="7"/>
          </p:nvPr>
        </p:nvSpPr>
        <p:spPr>
          <a:xfrm>
            <a:off x="652320" y="6332400"/>
            <a:ext cx="30060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ftr" idx="8"/>
          </p:nvPr>
        </p:nvSpPr>
        <p:spPr>
          <a:xfrm>
            <a:off x="8034120" y="6332400"/>
            <a:ext cx="35049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5"/>
          <p:cNvSpPr>
            <a:spLocks noGrp="1"/>
          </p:cNvSpPr>
          <p:nvPr>
            <p:ph type="sldNum" idx="9"/>
          </p:nvPr>
        </p:nvSpPr>
        <p:spPr>
          <a:xfrm>
            <a:off x="11444760" y="6332400"/>
            <a:ext cx="53928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5A831CC-C8E1-4EF0-AEBE-DB20D092A673}" type="slidenum">
              <a: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52320" y="647640"/>
            <a:ext cx="10625040" cy="1146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buNone/>
            </a:pPr>
            <a:r>
              <a:rPr b="0" lang="en-US" sz="3600" spc="300" strike="noStrike" u="none" cap="all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b="0" lang="en-IL" sz="36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52320" y="2095560"/>
            <a:ext cx="10620360" cy="3847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1" marL="6858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Second level</a:t>
            </a:r>
            <a:endParaRPr b="0" lang="en-IL" sz="18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2" marL="11430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Third level</a:t>
            </a:r>
            <a:endParaRPr b="0" lang="en-IL" sz="16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3" marL="16002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Fourth level</a:t>
            </a:r>
            <a:endParaRPr b="0" lang="en-IL" sz="14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4" marL="20574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Fifth level</a:t>
            </a:r>
            <a:endParaRPr b="0" lang="en-IL" sz="14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dt" idx="10"/>
          </p:nvPr>
        </p:nvSpPr>
        <p:spPr>
          <a:xfrm>
            <a:off x="652320" y="6332400"/>
            <a:ext cx="30060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ftr" idx="11"/>
          </p:nvPr>
        </p:nvSpPr>
        <p:spPr>
          <a:xfrm>
            <a:off x="8034120" y="6332400"/>
            <a:ext cx="35049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sldNum" idx="12"/>
          </p:nvPr>
        </p:nvSpPr>
        <p:spPr>
          <a:xfrm>
            <a:off x="11444760" y="6332400"/>
            <a:ext cx="53928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F2B2B6E-BB0A-43DB-B936-A6B6CBC9FC54}" type="slidenum">
              <a: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1981080" y="2362320"/>
            <a:ext cx="7695720" cy="2400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 fontScale="92500" lnSpcReduction="9999"/>
          </a:bodyPr>
          <a:p>
            <a:pPr indent="0" defTabSz="914400">
              <a:lnSpc>
                <a:spcPct val="120000"/>
              </a:lnSpc>
              <a:buNone/>
            </a:pPr>
            <a:r>
              <a:rPr b="0" lang="en-US" sz="5400" spc="300" strike="noStrike" u="none" cap="all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b="0" lang="en-IL" sz="54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1981080" y="5067360"/>
            <a:ext cx="7695720" cy="875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dt" idx="13"/>
          </p:nvPr>
        </p:nvSpPr>
        <p:spPr>
          <a:xfrm>
            <a:off x="652320" y="6332400"/>
            <a:ext cx="30060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ftr" idx="14"/>
          </p:nvPr>
        </p:nvSpPr>
        <p:spPr>
          <a:xfrm>
            <a:off x="8034120" y="6332400"/>
            <a:ext cx="35049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sldNum" idx="15"/>
          </p:nvPr>
        </p:nvSpPr>
        <p:spPr>
          <a:xfrm>
            <a:off x="11444760" y="6332400"/>
            <a:ext cx="53928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71BFDC2-E0B9-4CC7-9897-C6498BD1F856}" type="slidenum">
              <a: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652320" y="647640"/>
            <a:ext cx="10625040" cy="1146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buNone/>
            </a:pPr>
            <a:r>
              <a:rPr b="0" lang="en-US" sz="3600" spc="300" strike="noStrike" u="none" cap="all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b="0" lang="en-IL" sz="36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914400" y="1825560"/>
            <a:ext cx="499068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1" marL="6858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Second level</a:t>
            </a:r>
            <a:endParaRPr b="0" lang="en-IL" sz="18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2" marL="11430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Third level</a:t>
            </a:r>
            <a:endParaRPr b="0" lang="en-IL" sz="16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3" marL="16002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Fourth level</a:t>
            </a:r>
            <a:endParaRPr b="0" lang="en-IL" sz="14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4" marL="20574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Fifth level</a:t>
            </a:r>
            <a:endParaRPr b="0" lang="en-IL" sz="14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6248520" y="1825560"/>
            <a:ext cx="50288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1" marL="6858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Second level</a:t>
            </a:r>
            <a:endParaRPr b="0" lang="en-IL" sz="18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2" marL="11430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Third level</a:t>
            </a:r>
            <a:endParaRPr b="0" lang="en-IL" sz="16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3" marL="16002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Fourth level</a:t>
            </a:r>
            <a:endParaRPr b="0" lang="en-IL" sz="14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4" marL="20574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Fifth level</a:t>
            </a:r>
            <a:endParaRPr b="0" lang="en-IL" sz="14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dt" idx="16"/>
          </p:nvPr>
        </p:nvSpPr>
        <p:spPr>
          <a:xfrm>
            <a:off x="652320" y="6332400"/>
            <a:ext cx="30060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ftr" idx="17"/>
          </p:nvPr>
        </p:nvSpPr>
        <p:spPr>
          <a:xfrm>
            <a:off x="8034120" y="6332400"/>
            <a:ext cx="35049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6"/>
          <p:cNvSpPr>
            <a:spLocks noGrp="1"/>
          </p:cNvSpPr>
          <p:nvPr>
            <p:ph type="sldNum" idx="18"/>
          </p:nvPr>
        </p:nvSpPr>
        <p:spPr>
          <a:xfrm>
            <a:off x="11444760" y="6332400"/>
            <a:ext cx="53928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275CCFC-8A5B-4F0F-A80A-04534FA909F3}" type="slidenum">
              <a: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52320" y="647640"/>
            <a:ext cx="10625040" cy="1150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buNone/>
            </a:pPr>
            <a:r>
              <a:rPr b="0" lang="en-US" sz="3600" spc="300" strike="noStrike" u="none" cap="all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b="0" lang="en-IL" sz="36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55920" y="1879560"/>
            <a:ext cx="5157360" cy="675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US" sz="1800" spc="300" strike="noStrike" u="none" cap="all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b="0" lang="en-IL" sz="18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655920" y="2561040"/>
            <a:ext cx="5157360" cy="3648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1" marL="6858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Second level</a:t>
            </a:r>
            <a:endParaRPr b="0" lang="en-IL" sz="18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2" marL="11430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Third level</a:t>
            </a:r>
            <a:endParaRPr b="0" lang="en-IL" sz="16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3" marL="16002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Fourth level</a:t>
            </a:r>
            <a:endParaRPr b="0" lang="en-IL" sz="14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4" marL="20574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Fifth level</a:t>
            </a:r>
            <a:endParaRPr b="0" lang="en-IL" sz="14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6094440" y="1879560"/>
            <a:ext cx="5182920" cy="675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US" sz="1800" spc="300" strike="noStrike" u="none" cap="all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b="0" lang="en-IL" sz="18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6094440" y="2561040"/>
            <a:ext cx="5182920" cy="3648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1" marL="6858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Second level</a:t>
            </a:r>
            <a:endParaRPr b="0" lang="en-IL" sz="18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2" marL="11430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Third level</a:t>
            </a:r>
            <a:endParaRPr b="0" lang="en-IL" sz="16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3" marL="16002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Fourth level</a:t>
            </a:r>
            <a:endParaRPr b="0" lang="en-IL" sz="14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4" marL="20574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Fifth level</a:t>
            </a:r>
            <a:endParaRPr b="0" lang="en-IL" sz="14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dt" idx="19"/>
          </p:nvPr>
        </p:nvSpPr>
        <p:spPr>
          <a:xfrm>
            <a:off x="652320" y="6332400"/>
            <a:ext cx="30060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ftr" idx="20"/>
          </p:nvPr>
        </p:nvSpPr>
        <p:spPr>
          <a:xfrm>
            <a:off x="8034120" y="6332400"/>
            <a:ext cx="35049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8"/>
          <p:cNvSpPr>
            <a:spLocks noGrp="1"/>
          </p:cNvSpPr>
          <p:nvPr>
            <p:ph type="sldNum" idx="21"/>
          </p:nvPr>
        </p:nvSpPr>
        <p:spPr>
          <a:xfrm>
            <a:off x="11444760" y="6332400"/>
            <a:ext cx="53928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9E6E1CF-3A08-41A5-8436-7702D8989295}" type="slidenum">
              <a: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652320" y="647640"/>
            <a:ext cx="10625040" cy="1146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buNone/>
            </a:pPr>
            <a:r>
              <a:rPr b="0" lang="en-US" sz="3600" spc="300" strike="noStrike" u="none" cap="all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b="0" lang="en-IL" sz="36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dt" idx="22"/>
          </p:nvPr>
        </p:nvSpPr>
        <p:spPr>
          <a:xfrm>
            <a:off x="652320" y="6332400"/>
            <a:ext cx="30060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ftr" idx="23"/>
          </p:nvPr>
        </p:nvSpPr>
        <p:spPr>
          <a:xfrm>
            <a:off x="8034120" y="6332400"/>
            <a:ext cx="35049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sldNum" idx="24"/>
          </p:nvPr>
        </p:nvSpPr>
        <p:spPr>
          <a:xfrm>
            <a:off x="11444760" y="6332400"/>
            <a:ext cx="53928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6B932B3-3742-4E5B-AF7B-1DD29E63BE79}" type="slidenum">
              <a: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dt" idx="25"/>
          </p:nvPr>
        </p:nvSpPr>
        <p:spPr>
          <a:xfrm>
            <a:off x="652320" y="6332400"/>
            <a:ext cx="30060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ftr" idx="26"/>
          </p:nvPr>
        </p:nvSpPr>
        <p:spPr>
          <a:xfrm>
            <a:off x="8034120" y="6332400"/>
            <a:ext cx="35049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sldNum" idx="27"/>
          </p:nvPr>
        </p:nvSpPr>
        <p:spPr>
          <a:xfrm>
            <a:off x="11444760" y="6332400"/>
            <a:ext cx="53928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9267C57-BF57-4E98-BD91-4CF130B909B4}" type="slidenum">
              <a: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652320" y="647640"/>
            <a:ext cx="4119120" cy="171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buNone/>
            </a:pPr>
            <a:r>
              <a:rPr b="0" lang="en-US" sz="3200" spc="300" strike="noStrike" u="none" cap="all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b="0" lang="en-IL" sz="32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5540040" y="914400"/>
            <a:ext cx="5736960" cy="5028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b="0" lang="en-IL" sz="32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1" marL="6858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Second level</a:t>
            </a:r>
            <a:endParaRPr b="0" lang="en-IL" sz="28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2" marL="11430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Third level</a:t>
            </a:r>
            <a:endParaRPr b="0" lang="en-IL" sz="24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3" marL="16002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Fourth level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4" marL="2057400" indent="-2286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Fifth level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body"/>
          </p:nvPr>
        </p:nvSpPr>
        <p:spPr>
          <a:xfrm>
            <a:off x="652320" y="2697480"/>
            <a:ext cx="4119120" cy="324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b="0" lang="en-IL" sz="16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dt" idx="28"/>
          </p:nvPr>
        </p:nvSpPr>
        <p:spPr>
          <a:xfrm>
            <a:off x="652320" y="6332400"/>
            <a:ext cx="30060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ftr" idx="29"/>
          </p:nvPr>
        </p:nvSpPr>
        <p:spPr>
          <a:xfrm>
            <a:off x="8034120" y="6332400"/>
            <a:ext cx="35049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6"/>
          <p:cNvSpPr>
            <a:spLocks noGrp="1"/>
          </p:cNvSpPr>
          <p:nvPr>
            <p:ph type="sldNum" idx="30"/>
          </p:nvPr>
        </p:nvSpPr>
        <p:spPr>
          <a:xfrm>
            <a:off x="11444760" y="6332400"/>
            <a:ext cx="53928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E848A20-04CA-4A3D-8763-E86B45F6B894}" type="slidenum">
              <a: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652320" y="647640"/>
            <a:ext cx="4119120" cy="171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buNone/>
            </a:pPr>
            <a:r>
              <a:rPr b="0" lang="en-US" sz="3200" spc="300" strike="noStrike" u="none" cap="all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Click to edit Master title style</a:t>
            </a:r>
            <a:endParaRPr b="0" lang="en-IL" sz="32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5486400" y="914400"/>
            <a:ext cx="5790960" cy="5028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Click icon to add picture</a:t>
            </a:r>
            <a:endParaRPr b="0" lang="en-IL" sz="32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body"/>
          </p:nvPr>
        </p:nvSpPr>
        <p:spPr>
          <a:xfrm>
            <a:off x="652320" y="2697480"/>
            <a:ext cx="4119120" cy="3171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Click to edit Master text styles</a:t>
            </a:r>
            <a:endParaRPr b="0" lang="en-IL" sz="16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dt" idx="31"/>
          </p:nvPr>
        </p:nvSpPr>
        <p:spPr>
          <a:xfrm>
            <a:off x="652320" y="6332400"/>
            <a:ext cx="30060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&lt;date/time&gt;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5"/>
          <p:cNvSpPr>
            <a:spLocks noGrp="1"/>
          </p:cNvSpPr>
          <p:nvPr>
            <p:ph type="ftr" idx="32"/>
          </p:nvPr>
        </p:nvSpPr>
        <p:spPr>
          <a:xfrm>
            <a:off x="8034120" y="6332400"/>
            <a:ext cx="35049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6"/>
          <p:cNvSpPr>
            <a:spLocks noGrp="1"/>
          </p:cNvSpPr>
          <p:nvPr>
            <p:ph type="sldNum" idx="33"/>
          </p:nvPr>
        </p:nvSpPr>
        <p:spPr>
          <a:xfrm>
            <a:off x="11444760" y="6332400"/>
            <a:ext cx="53928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6D461E0-3821-4C18-95EF-5F34E5FD8B77}" type="slidenum">
              <a:rPr b="1" lang="en-US" sz="900" spc="99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4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8" name="Rectangle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Grandview Display"/>
            </a:endParaRPr>
          </a:p>
        </p:txBody>
      </p:sp>
      <p:pic>
        <p:nvPicPr>
          <p:cNvPr id="59" name="Picture 3" descr="Abstract smoke background"/>
          <p:cNvPicPr/>
          <p:nvPr/>
        </p:nvPicPr>
        <p:blipFill>
          <a:blip r:embed="rId1"/>
          <a:srcRect l="0" t="6686" r="0" b="8726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" name="Rectangle 1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3231000"/>
            <a:ext cx="12191760" cy="3626640"/>
          </a:xfrm>
          <a:prstGeom prst="rect">
            <a:avLst/>
          </a:prstGeom>
          <a:gradFill rotWithShape="0">
            <a:gsLst>
              <a:gs pos="0">
                <a:srgbClr val="000000">
                  <a:alpha val="0"/>
                </a:srgbClr>
              </a:gs>
              <a:gs pos="100000">
                <a:srgbClr val="000000">
                  <a:alpha val="58000"/>
                </a:srgbClr>
              </a:gs>
            </a:gsLst>
            <a:lin ang="5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Grandview Display"/>
            </a:endParaRPr>
          </a:p>
        </p:txBody>
      </p:sp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981080" y="2362320"/>
            <a:ext cx="6438240" cy="2400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110000"/>
              </a:lnSpc>
              <a:buNone/>
            </a:pPr>
            <a:r>
              <a:rPr b="0" lang="en-IL" sz="4400" spc="300" strike="noStrike" u="none" cap="all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Data Science Workshop: Crypto anomalies</a:t>
            </a:r>
            <a:endParaRPr b="0" lang="en-IL" sz="44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subTitle"/>
          </p:nvPr>
        </p:nvSpPr>
        <p:spPr>
          <a:xfrm>
            <a:off x="2018520" y="5075280"/>
            <a:ext cx="6438240" cy="1134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IL" sz="1700" strike="noStrike" u="none">
                <a:solidFill>
                  <a:srgbClr val="ffffff"/>
                </a:solidFill>
                <a:effectLst/>
                <a:uFillTx/>
                <a:latin typeface="Grandview Display"/>
              </a:rPr>
              <a:t>Proof of Concept</a:t>
            </a:r>
            <a:endParaRPr b="0" lang="en-US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IL" sz="1700" strike="noStrike" u="none">
                <a:solidFill>
                  <a:srgbClr val="ffffff"/>
                </a:solidFill>
                <a:effectLst/>
                <a:uFillTx/>
                <a:latin typeface="Grandview Display"/>
              </a:rPr>
              <a:t>Oz Cabiri</a:t>
            </a:r>
            <a:endParaRPr b="0" lang="en-US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IL" sz="1700" strike="noStrike" u="none">
                <a:solidFill>
                  <a:srgbClr val="ffffff"/>
                </a:solidFill>
                <a:effectLst/>
                <a:uFillTx/>
                <a:latin typeface="Grandview Display"/>
              </a:rPr>
              <a:t>Guy Harem</a:t>
            </a:r>
            <a:endParaRPr b="0" lang="en-US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652320" y="647640"/>
            <a:ext cx="10625040" cy="1146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buNone/>
            </a:pPr>
            <a:r>
              <a:rPr b="0" lang="en-IL" sz="3600" spc="300" strike="noStrike" u="none" cap="all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Topic</a:t>
            </a:r>
            <a:endParaRPr b="0" lang="en-IL" sz="36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652320" y="2095560"/>
            <a:ext cx="10620360" cy="3847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Crypto arbitrage exploits momentary prices inconcistinces for the same digital asset across differetnt exchanges (e.g Binance, Coinbase)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The research goal is to identify situations that can bring monetary value by profiting from these inconsistencies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Research Task: Build a crypto arbitrage detector that identifies and analyzes periods of markey inefficency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Data Sources: Binance (CSV) and Coinbase (API)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652320" y="647640"/>
            <a:ext cx="10625040" cy="1146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buNone/>
            </a:pPr>
            <a:r>
              <a:rPr b="0" lang="en-IL" sz="3600" spc="300" strike="noStrike" u="none" cap="all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Topic 1: crypto arbitrage</a:t>
            </a:r>
            <a:endParaRPr b="0" lang="en-IL" sz="36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/>
          </p:nvPr>
        </p:nvSpPr>
        <p:spPr>
          <a:xfrm>
            <a:off x="652320" y="2095560"/>
            <a:ext cx="10620360" cy="3847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Problem: Cryptocurrency prices can vary across exchanges, creating opportunities for arbitrage, where traders exploit price differences to make a profit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Motivation: Detecting and exploiting arbitrage opportunities can help traders maximize profits and improve market efficiency across different exchanges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Question: Can machine learning algorithms accurately identify arbitrage opportunities between multiple cryptocurrency exchanges using real-time price and volume data?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Goal: Develop a machine learning model to identify arbitrage opportunities in real-time between major cryptocurrency exchanges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652320" y="647640"/>
            <a:ext cx="10625040" cy="1146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buNone/>
            </a:pPr>
            <a:r>
              <a:rPr b="0" lang="en-IL" sz="3600" spc="300" strike="noStrike" u="none" cap="all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FEASIBILTY ANALYSIS</a:t>
            </a:r>
            <a:endParaRPr b="0" lang="en-IL" sz="36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652320" y="2095560"/>
            <a:ext cx="10620360" cy="3847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Main Dataset: Binance and Coinbase Historical Market Data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Supporting Dataset: Kraken and Bitfinex Historical Data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Dataset Features: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1" marL="864000" indent="-324000" defTabSz="914400">
              <a:lnSpc>
                <a:spcPct val="12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Available data: Open/Close Time, Open/High/Low/Close Price, Volume, Quote asset Volume, Number of Trades, Taker Buy Base/Quote Asset Volume, Ignore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1" marL="864000" indent="-324000" defTabSz="914400">
              <a:lnSpc>
                <a:spcPct val="12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All databases contain main features we need for the projec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1" marL="864000" indent="-324000" defTabSz="914400">
              <a:lnSpc>
                <a:spcPct val="12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Datasets might not correlate exactly by timestamp, order and units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</a:pP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652320" y="647640"/>
            <a:ext cx="10625040" cy="1146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buNone/>
            </a:pPr>
            <a:r>
              <a:rPr b="0" lang="en-IL" sz="3600" spc="300" strike="noStrike" u="none" cap="all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POC</a:t>
            </a:r>
            <a:endParaRPr b="0" lang="en-IL" sz="36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/>
          </p:nvPr>
        </p:nvSpPr>
        <p:spPr>
          <a:xfrm>
            <a:off x="652320" y="2095560"/>
            <a:ext cx="10620360" cy="3847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0" defTabSz="914400">
              <a:lnSpc>
                <a:spcPct val="120000"/>
              </a:lnSpc>
              <a:spcBef>
                <a:spcPts val="1001"/>
              </a:spcBef>
              <a:buNone/>
            </a:pP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indent="0" defTabSz="914400">
              <a:lnSpc>
                <a:spcPct val="120000"/>
              </a:lnSpc>
              <a:spcBef>
                <a:spcPts val="1001"/>
              </a:spcBef>
              <a:buNone/>
            </a:pP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&lt;insert example graph&gt;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Using ML we can believe we can identify these discrepancies and derive a model that will recognize them in real-time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</a:pP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  <p:pic>
        <p:nvPicPr>
          <p:cNvPr id="71" name="" descr=""/>
          <p:cNvPicPr/>
          <p:nvPr/>
        </p:nvPicPr>
        <p:blipFill>
          <a:blip r:embed="rId1"/>
          <a:stretch/>
        </p:blipFill>
        <p:spPr>
          <a:xfrm>
            <a:off x="914400" y="2095560"/>
            <a:ext cx="9167040" cy="647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652320" y="647640"/>
            <a:ext cx="10625040" cy="1146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buNone/>
            </a:pPr>
            <a:r>
              <a:rPr b="0" lang="en-IL" sz="3600" spc="300" strike="noStrike" u="none" cap="all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Initial approach + workplan</a:t>
            </a:r>
            <a:endParaRPr b="0" lang="en-IL" sz="36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652320" y="2095560"/>
            <a:ext cx="10620360" cy="3847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Get datasets with API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Adjust database structure and units to be uniform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Clean outliers, irrelevant data and problematic entries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Combine datasets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Fine-tune ML algorithms to learn desired goal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Apply ML algorithm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Deploy on real-time data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</a:pP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652320" y="647640"/>
            <a:ext cx="10625040" cy="1146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buNone/>
            </a:pPr>
            <a:r>
              <a:rPr b="0" lang="en-IL" sz="3600" spc="300" strike="noStrike" u="none" cap="all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Milestones</a:t>
            </a:r>
            <a:endParaRPr b="0" lang="en-IL" sz="36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/>
          </p:nvPr>
        </p:nvSpPr>
        <p:spPr>
          <a:xfrm>
            <a:off x="652320" y="2095560"/>
            <a:ext cx="10620360" cy="3847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Download all relevant datasets using APIs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Clean and merge datasets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Apply ML algorithm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Derive conclusions on model’s accuracy and viability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Deploy model on real-time data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</a:pP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652320" y="647640"/>
            <a:ext cx="10625040" cy="1146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buNone/>
            </a:pPr>
            <a:r>
              <a:rPr b="0" lang="en-IL" sz="3600" spc="300" strike="noStrike" u="none" cap="all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What does success look like?</a:t>
            </a:r>
            <a:endParaRPr b="0" lang="en-IL" sz="36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/>
          </p:nvPr>
        </p:nvSpPr>
        <p:spPr>
          <a:xfrm>
            <a:off x="652320" y="2095560"/>
            <a:ext cx="10620360" cy="3847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Consistently find arbitrage on historical data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Usable model to apply on real-time data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</a:pP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652320" y="647640"/>
            <a:ext cx="10625040" cy="1146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buNone/>
            </a:pPr>
            <a:r>
              <a:rPr b="0" lang="en-IL" sz="3600" spc="300" strike="noStrike" u="none" cap="all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Topic 2: Pump n’ Dump</a:t>
            </a:r>
            <a:endParaRPr b="0" lang="en-IL" sz="36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652320" y="2095560"/>
            <a:ext cx="10620360" cy="3847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Problem: Crypto markets are prone to "pump and dump" schemes, where prices are artificially inflated before being rapidly sold off, misleading traders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Motivation: Identifying these patterns can help prevent market manipulation, improve trading strategies, and protect investors from significant losses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Question: Can machine learning algorithms effectively detect pump-and-dump schemes in cryptocurrency markets across multiple exchanges using historical price and volume data?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Goal: Develop a machine learning model to detect pump-and-dump activities across major cryptocurrency exchanges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652320" y="647640"/>
            <a:ext cx="10625040" cy="1146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buNone/>
            </a:pPr>
            <a:r>
              <a:rPr b="0" lang="en-IL" sz="3600" spc="300" strike="noStrike" u="none" cap="all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FEASIBILTY ANALYSIS</a:t>
            </a:r>
            <a:endParaRPr b="0" lang="en-IL" sz="36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652320" y="2095560"/>
            <a:ext cx="10620360" cy="3847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Main Dataset: Binance Historical Market Data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Supporting Dataset: Coinbase, Kraken and Bitfinex Historical Data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Dataset Features: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1" marL="864000" indent="-324000" defTabSz="914400">
              <a:lnSpc>
                <a:spcPct val="12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Available data: Open/Close Time, Open/High/Low/Close Price, Volume, Quote asset Volume, Number of Trades, Taker Buy Base/Quote Asset Volume, Ignore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1" marL="864000" indent="-324000" defTabSz="914400">
              <a:lnSpc>
                <a:spcPct val="12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All databases contain main features we need for the projec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1" marL="864000" indent="-324000" defTabSz="914400">
              <a:lnSpc>
                <a:spcPct val="12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Datasets might not correlate exactly by timestamp, order and units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</a:pP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652320" y="647640"/>
            <a:ext cx="10625040" cy="1146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buNone/>
            </a:pPr>
            <a:r>
              <a:rPr b="0" lang="en-IL" sz="3600" spc="300" strike="noStrike" u="none" cap="all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POC</a:t>
            </a:r>
            <a:endParaRPr b="0" lang="en-IL" sz="36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/>
          </p:nvPr>
        </p:nvSpPr>
        <p:spPr>
          <a:xfrm>
            <a:off x="652320" y="2095560"/>
            <a:ext cx="10620360" cy="3847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0" defTabSz="914400">
              <a:lnSpc>
                <a:spcPct val="120000"/>
              </a:lnSpc>
              <a:spcBef>
                <a:spcPts val="1001"/>
              </a:spcBef>
              <a:buNone/>
            </a:pP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indent="0" defTabSz="914400">
              <a:lnSpc>
                <a:spcPct val="120000"/>
              </a:lnSpc>
              <a:spcBef>
                <a:spcPts val="1001"/>
              </a:spcBef>
              <a:buNone/>
            </a:pP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&lt;insert example graph&gt;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Using ML we can believe we can identify patterns of known Pump n’ Dumps and </a:t>
            </a: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derive a model that identifies those schemes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  <p:pic>
        <p:nvPicPr>
          <p:cNvPr id="84" name="" descr=""/>
          <p:cNvPicPr/>
          <p:nvPr/>
        </p:nvPicPr>
        <p:blipFill>
          <a:blip r:embed="rId1"/>
          <a:stretch/>
        </p:blipFill>
        <p:spPr>
          <a:xfrm>
            <a:off x="914400" y="2095560"/>
            <a:ext cx="9167040" cy="647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652320" y="647640"/>
            <a:ext cx="10625040" cy="1146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buNone/>
            </a:pPr>
            <a:r>
              <a:rPr b="0" lang="en-IL" sz="3600" spc="300" strike="noStrike" u="none" cap="all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Initial approach + workplan</a:t>
            </a:r>
            <a:endParaRPr b="0" lang="en-IL" sz="36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/>
          </p:nvPr>
        </p:nvSpPr>
        <p:spPr>
          <a:xfrm>
            <a:off x="652320" y="2095560"/>
            <a:ext cx="10620360" cy="3847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Get datasets with API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Adjust database structure and units to be uniform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Clean outliers, irrelevant data and problematic entries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Combine datasets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Fine-tune ML algorithms to learn desired goal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Apply ML algorithm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Deploy on real-time data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</a:pP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652320" y="647640"/>
            <a:ext cx="10625040" cy="1146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buNone/>
            </a:pPr>
            <a:r>
              <a:rPr b="0" lang="en-IL" sz="3600" spc="300" strike="noStrike" u="none" cap="all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Milestones</a:t>
            </a:r>
            <a:endParaRPr b="0" lang="en-IL" sz="36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/>
          </p:nvPr>
        </p:nvSpPr>
        <p:spPr>
          <a:xfrm>
            <a:off x="652320" y="2095560"/>
            <a:ext cx="10620360" cy="3847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Download all relevant datasets using APIs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Clean and merge datasets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Apply ML algorithm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Derive conclusions on model’s accuracy and viability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Deploy model on real-time data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</a:pP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652320" y="647640"/>
            <a:ext cx="10625040" cy="1146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buNone/>
            </a:pPr>
            <a:r>
              <a:rPr b="0" lang="en-IL" sz="3600" spc="300" strike="noStrike" u="none" cap="all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What does success look like?</a:t>
            </a:r>
            <a:endParaRPr b="0" lang="en-IL" sz="36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652320" y="2095560"/>
            <a:ext cx="10620360" cy="3847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Consistently detect Pump n’ Dumps on historical data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Usable model to apply on real-time data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</a:pP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652320" y="647640"/>
            <a:ext cx="10625040" cy="1146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buNone/>
            </a:pPr>
            <a:r>
              <a:rPr b="0" lang="en-IL" sz="3600" spc="300" strike="noStrike" u="none" cap="all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Arbitrage: Pros and Cons</a:t>
            </a:r>
            <a:endParaRPr b="0" lang="en-IL" sz="36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652320" y="2095560"/>
            <a:ext cx="10620360" cy="3847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Pros: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1" marL="864000" indent="-324000" defTabSz="914400">
              <a:lnSpc>
                <a:spcPct val="12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Real-Time Profit Opportunities: Identifying arbitrage allows traders to profit from real-time price discrepancies across exchanges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1" marL="864000" indent="-324000" defTabSz="914400">
              <a:lnSpc>
                <a:spcPct val="12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Market Efficiency: Promotes efficient price discovery by reducing price differences between exchanges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1" marL="864000" indent="-324000" defTabSz="914400">
              <a:lnSpc>
                <a:spcPct val="12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Practical Application: Useful for algorithmic trading, providing real-world financial applications and insights into market dynamics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</a:pP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652320" y="647640"/>
            <a:ext cx="10625040" cy="1146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buNone/>
            </a:pPr>
            <a:r>
              <a:rPr b="0" lang="en-IL" sz="3600" spc="300" strike="noStrike" u="none" cap="all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Arbitrage: Pros and Cons</a:t>
            </a:r>
            <a:endParaRPr b="0" lang="en-IL" sz="36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/>
          </p:nvPr>
        </p:nvSpPr>
        <p:spPr>
          <a:xfrm>
            <a:off x="652320" y="2095560"/>
            <a:ext cx="10620360" cy="3847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Cons: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1" marL="864000" indent="-324000" defTabSz="914400">
              <a:lnSpc>
                <a:spcPct val="12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Market Conditions: Arbitrage opportunities often exist only for very short periods, making it difficult to capture them in real time without high-frequency trading infrastructure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1" marL="864000" indent="-324000" defTabSz="914400">
              <a:lnSpc>
                <a:spcPct val="12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Transaction Costs: Profits from arbitrage can be eaten up by transaction fees, especially when dealing with multiple exchanges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1" marL="864000" indent="-324000" defTabSz="914400">
              <a:lnSpc>
                <a:spcPct val="12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Requires Real-Time Data: Successful arbitrage detection demands access to live data feeds and low-latency algorithms, which may increase technical complexity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</a:pP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652320" y="647640"/>
            <a:ext cx="10625040" cy="1146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buNone/>
            </a:pPr>
            <a:r>
              <a:rPr b="0" lang="en-IL" sz="3600" spc="300" strike="noStrike" u="none" cap="all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Pump n’ Dump: Pros and Cons</a:t>
            </a:r>
            <a:endParaRPr b="0" lang="en-IL" sz="36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/>
          </p:nvPr>
        </p:nvSpPr>
        <p:spPr>
          <a:xfrm>
            <a:off x="652320" y="2095560"/>
            <a:ext cx="10620360" cy="3847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Pros: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1" marL="864000" indent="-324000" defTabSz="914400">
              <a:lnSpc>
                <a:spcPct val="12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Market Integrity: Helps identify manipulative activities, contributing to a more transparent and fair market environment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1" marL="864000" indent="-324000" defTabSz="914400">
              <a:lnSpc>
                <a:spcPct val="12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Risk Mitigation: Protects investors from sudden price manipulations that can lead to significant losses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1" marL="864000" indent="-324000" defTabSz="914400">
              <a:lnSpc>
                <a:spcPct val="12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Wide Applicability: Relevant across all exchanges and assets, helping improve market oversight and trading strategies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</a:pP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652320" y="647640"/>
            <a:ext cx="10625040" cy="1146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buNone/>
            </a:pPr>
            <a:r>
              <a:rPr b="0" lang="en-IL" sz="3600" spc="300" strike="noStrike" u="none" cap="all">
                <a:solidFill>
                  <a:srgbClr val="ffffff"/>
                </a:solidFill>
                <a:effectLst/>
                <a:highlight>
                  <a:srgbClr val="000000"/>
                </a:highlight>
                <a:uFillTx/>
                <a:latin typeface="Grandview"/>
              </a:rPr>
              <a:t>Pump n’ Dump: Pros and Cons</a:t>
            </a:r>
            <a:endParaRPr b="0" lang="en-IL" sz="36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/>
          </p:nvPr>
        </p:nvSpPr>
        <p:spPr>
          <a:xfrm>
            <a:off x="652320" y="2095560"/>
            <a:ext cx="10620360" cy="3847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Arial"/>
              <a:buChar char="•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Cons: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1" marL="864000" indent="-324000" defTabSz="914400">
              <a:lnSpc>
                <a:spcPct val="12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Data Complexity: Identifying pump-and-dump schemes requires detailed, </a:t>
            </a: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high-frequency data and complex pattern recognition, which can be </a:t>
            </a: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difficult to model accurately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1" marL="864000" indent="-324000" defTabSz="914400">
              <a:lnSpc>
                <a:spcPct val="12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False Positives: Genuine market fluctuations or news-driven events might </a:t>
            </a: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be mistakenly classified as pump-and-dump actions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lvl="1" marL="864000" indent="-324000" defTabSz="914400">
              <a:lnSpc>
                <a:spcPct val="12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Legal and Ethical Issues: Defining and labeling pump-and-dump can be </a:t>
            </a: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subjective and challenging, especially across different regulatory </a:t>
            </a:r>
            <a:r>
              <a:rPr b="0" lang="en-IL" sz="2000" strike="noStrike" u="none">
                <a:solidFill>
                  <a:schemeClr val="dk1"/>
                </a:solidFill>
                <a:effectLst/>
                <a:uFillTx/>
                <a:latin typeface="Grandview Display"/>
              </a:rPr>
              <a:t>environments</a:t>
            </a: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</a:pPr>
            <a:endParaRPr b="0" lang="en-IL" sz="2000" strike="noStrike" u="none">
              <a:solidFill>
                <a:schemeClr val="dk1"/>
              </a:solidFill>
              <a:effectLst/>
              <a:uFillTx/>
              <a:latin typeface="Grandview Display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CitationVTI">
  <a:themeElements>
    <a:clrScheme name="Citation">
      <a:dk1>
        <a:srgbClr val="000000"/>
      </a:dk1>
      <a:lt1>
        <a:srgbClr val="ffffff"/>
      </a:lt1>
      <a:dk2>
        <a:srgbClr val="01375d"/>
      </a:dk2>
      <a:lt2>
        <a:srgbClr val="f3f2ef"/>
      </a:lt2>
      <a:accent1>
        <a:srgbClr val="29a3d2"/>
      </a:accent1>
      <a:accent2>
        <a:srgbClr val="0669ac"/>
      </a:accent2>
      <a:accent3>
        <a:srgbClr val="fd891c"/>
      </a:accent3>
      <a:accent4>
        <a:srgbClr val="fd6927"/>
      </a:accent4>
      <a:accent5>
        <a:srgbClr val="f95131"/>
      </a:accent5>
      <a:accent6>
        <a:srgbClr val="ce5fae"/>
      </a:accent6>
      <a:hlink>
        <a:srgbClr val="0f8ec1"/>
      </a:hlink>
      <a:folHlink>
        <a:srgbClr val="dc6400"/>
      </a:folHlink>
    </a:clrScheme>
    <a:fontScheme name="Grandview">
      <a:majorFont>
        <a:latin typeface="Grandview" pitchFamily="0" charset="1"/>
        <a:ea typeface=""/>
        <a:cs typeface=""/>
      </a:majorFont>
      <a:minorFont>
        <a:latin typeface="Grandview Display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1423</TotalTime>
  <Application>LibreOffice/25.2.6.2$Windows_X86_64 LibreOffice_project/729c5bfe710f5eb71ed3bbde9e06a6065e9c6c5d</Application>
  <AppVersion>15.0000</AppVersion>
  <Words>100</Words>
  <Paragraphs>12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2025-11-18T12:11:01Z</dcterms:created>
  <dc:creator>Guy Harem</dc:creator>
  <dc:description/>
  <dc:language>en-US</dc:language>
  <cp:lastModifiedBy/>
  <dcterms:modified xsi:type="dcterms:W3CDTF">2025-11-19T16:46:18Z</dcterms:modified>
  <cp:revision>13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3</vt:i4>
  </property>
</Properties>
</file>