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7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  <Override PartName="/ppt/media/image1.jpeg" ContentType="image/jpeg"/>
  <Override PartName="/ppt/media/image3.png" ContentType="image/png"/>
  <Override PartName="/ppt/media/image2.png" ContentType="image/png"/>
  <Override PartName="/ppt/media/image4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652320" y="6332400"/>
            <a:ext cx="30056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8034120" y="6332400"/>
            <a:ext cx="35046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11444760" y="6332400"/>
            <a:ext cx="5389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622DE3-D738-486E-A2E6-AA6E65F74271}" type="slidenum"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4118760" cy="171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32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5540040" y="914400"/>
            <a:ext cx="5736600" cy="502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652320" y="2697480"/>
            <a:ext cx="4118760" cy="324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dt" idx="4"/>
          </p:nvPr>
        </p:nvSpPr>
        <p:spPr>
          <a:xfrm>
            <a:off x="652320" y="6332400"/>
            <a:ext cx="30056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ftr" idx="5"/>
          </p:nvPr>
        </p:nvSpPr>
        <p:spPr>
          <a:xfrm>
            <a:off x="8034120" y="6332400"/>
            <a:ext cx="35046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6"/>
          <p:cNvSpPr>
            <a:spLocks noGrp="1"/>
          </p:cNvSpPr>
          <p:nvPr>
            <p:ph type="sldNum" idx="6"/>
          </p:nvPr>
        </p:nvSpPr>
        <p:spPr>
          <a:xfrm>
            <a:off x="11444760" y="6332400"/>
            <a:ext cx="5389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0DF09E5-E87E-432C-9FB9-78B2C39CE10F}" type="slidenum"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4118760" cy="171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32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486400" y="914400"/>
            <a:ext cx="5790600" cy="5028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icon to add picture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52320" y="2697480"/>
            <a:ext cx="4118760" cy="317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652320" y="6332400"/>
            <a:ext cx="30056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8034120" y="6332400"/>
            <a:ext cx="35046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11444760" y="6332400"/>
            <a:ext cx="5389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97252CA-6E01-4564-90CE-F8F71A44B20D}" type="slidenum"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47640" y="1181160"/>
            <a:ext cx="6864120" cy="358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dt" idx="10"/>
          </p:nvPr>
        </p:nvSpPr>
        <p:spPr>
          <a:xfrm>
            <a:off x="652320" y="6332400"/>
            <a:ext cx="30056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ftr" idx="11"/>
          </p:nvPr>
        </p:nvSpPr>
        <p:spPr>
          <a:xfrm>
            <a:off x="8034120" y="6332400"/>
            <a:ext cx="35046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sldNum" idx="12"/>
          </p:nvPr>
        </p:nvSpPr>
        <p:spPr>
          <a:xfrm>
            <a:off x="11444760" y="6332400"/>
            <a:ext cx="5389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4706BA3-8FD7-428E-A981-81233D38D7D8}" type="slidenum"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2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the outline text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16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Second Outline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2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L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Third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Fourth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4680" cy="114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652320" y="2095560"/>
            <a:ext cx="10620000" cy="38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3"/>
          </p:nvPr>
        </p:nvSpPr>
        <p:spPr>
          <a:xfrm>
            <a:off x="652320" y="6332400"/>
            <a:ext cx="30056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ftr" idx="14"/>
          </p:nvPr>
        </p:nvSpPr>
        <p:spPr>
          <a:xfrm>
            <a:off x="8034120" y="6332400"/>
            <a:ext cx="35046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15"/>
          </p:nvPr>
        </p:nvSpPr>
        <p:spPr>
          <a:xfrm>
            <a:off x="11444760" y="6332400"/>
            <a:ext cx="5389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2BCD0F-6B13-4A10-8AE2-A94BD0515B14}" type="slidenum"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986680" y="647640"/>
            <a:ext cx="2290320" cy="529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 vert="eaVert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652320" y="647640"/>
            <a:ext cx="8120160" cy="529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652320" y="6332400"/>
            <a:ext cx="30056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8034120" y="6332400"/>
            <a:ext cx="35046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11444760" y="6332400"/>
            <a:ext cx="5389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0C07980-21D6-4778-ACE4-94A8ABEE997E}" type="slidenum"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4680" cy="114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652320" y="2095560"/>
            <a:ext cx="10620000" cy="38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652320" y="6332400"/>
            <a:ext cx="30056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8034120" y="6332400"/>
            <a:ext cx="35046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11444760" y="6332400"/>
            <a:ext cx="5389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5C13B0A-EE91-4535-92EC-3235FB47390C}" type="slidenum"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981080" y="2362320"/>
            <a:ext cx="7695360" cy="23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92500" lnSpcReduction="9999"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54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b="0" lang="en-US" sz="5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1981080" y="5067360"/>
            <a:ext cx="7695360" cy="875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652320" y="6332400"/>
            <a:ext cx="30056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8034120" y="6332400"/>
            <a:ext cx="35046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11444760" y="6332400"/>
            <a:ext cx="5389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87A4148-6B57-4095-8F00-F949D8DEF7DD}" type="slidenum"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4680" cy="114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914400" y="1825560"/>
            <a:ext cx="499032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6248520" y="1825560"/>
            <a:ext cx="50284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dt" idx="25"/>
          </p:nvPr>
        </p:nvSpPr>
        <p:spPr>
          <a:xfrm>
            <a:off x="652320" y="6332400"/>
            <a:ext cx="30056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ftr" idx="26"/>
          </p:nvPr>
        </p:nvSpPr>
        <p:spPr>
          <a:xfrm>
            <a:off x="8034120" y="6332400"/>
            <a:ext cx="35046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sldNum" idx="27"/>
          </p:nvPr>
        </p:nvSpPr>
        <p:spPr>
          <a:xfrm>
            <a:off x="11444760" y="6332400"/>
            <a:ext cx="5389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817989-5D82-43B5-B86A-9CD9CC927051}" type="slidenum"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4680" cy="114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655920" y="1879560"/>
            <a:ext cx="5157000" cy="67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1800" spc="300" strike="noStrike" u="none" cap="all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655920" y="2561040"/>
            <a:ext cx="5157000" cy="364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body"/>
          </p:nvPr>
        </p:nvSpPr>
        <p:spPr>
          <a:xfrm>
            <a:off x="6094440" y="1879560"/>
            <a:ext cx="5182560" cy="67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1800" spc="300" strike="noStrike" u="none" cap="all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6094440" y="2561040"/>
            <a:ext cx="5182560" cy="364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dt" idx="28"/>
          </p:nvPr>
        </p:nvSpPr>
        <p:spPr>
          <a:xfrm>
            <a:off x="652320" y="6332400"/>
            <a:ext cx="30056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7"/>
          <p:cNvSpPr>
            <a:spLocks noGrp="1"/>
          </p:cNvSpPr>
          <p:nvPr>
            <p:ph type="ftr" idx="29"/>
          </p:nvPr>
        </p:nvSpPr>
        <p:spPr>
          <a:xfrm>
            <a:off x="8034120" y="6332400"/>
            <a:ext cx="35046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8"/>
          <p:cNvSpPr>
            <a:spLocks noGrp="1"/>
          </p:cNvSpPr>
          <p:nvPr>
            <p:ph type="sldNum" idx="30"/>
          </p:nvPr>
        </p:nvSpPr>
        <p:spPr>
          <a:xfrm>
            <a:off x="11444760" y="6332400"/>
            <a:ext cx="5389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C010761-FF90-427A-8914-BCAFD115658F}" type="slidenum"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4680" cy="114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dt" idx="31"/>
          </p:nvPr>
        </p:nvSpPr>
        <p:spPr>
          <a:xfrm>
            <a:off x="652320" y="6332400"/>
            <a:ext cx="30056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ftr" idx="32"/>
          </p:nvPr>
        </p:nvSpPr>
        <p:spPr>
          <a:xfrm>
            <a:off x="8034120" y="6332400"/>
            <a:ext cx="35046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sldNum" idx="33"/>
          </p:nvPr>
        </p:nvSpPr>
        <p:spPr>
          <a:xfrm>
            <a:off x="11444760" y="6332400"/>
            <a:ext cx="5389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13829BB-FFC5-40F0-B718-83E9650F8559}" type="slidenum"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8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Grandview Display"/>
            </a:endParaRPr>
          </a:p>
        </p:txBody>
      </p:sp>
      <p:pic>
        <p:nvPicPr>
          <p:cNvPr id="59" name="Picture 3" descr="Abstract smoke background"/>
          <p:cNvPicPr/>
          <p:nvPr/>
        </p:nvPicPr>
        <p:blipFill>
          <a:blip r:embed="rId1"/>
          <a:srcRect l="0" t="6686" r="0" b="8726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Rectangl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231000"/>
            <a:ext cx="12191400" cy="36262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100000">
                <a:srgbClr val="000000">
                  <a:alpha val="58000"/>
                </a:srgbClr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Grandview Display"/>
            </a:endParaRPr>
          </a:p>
        </p:txBody>
      </p:sp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981080" y="2362320"/>
            <a:ext cx="6437880" cy="23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IL" sz="44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Data Science Workshop: Crypto anomalies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2018520" y="5075280"/>
            <a:ext cx="6437880" cy="113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IL" sz="1700" strike="noStrike" u="none">
                <a:solidFill>
                  <a:srgbClr val="ffffff"/>
                </a:solidFill>
                <a:effectLst/>
                <a:uFillTx/>
                <a:latin typeface="Grandview Display"/>
              </a:rPr>
              <a:t>Proof of Concept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IL" sz="1700" strike="noStrike" u="none">
                <a:solidFill>
                  <a:srgbClr val="ffffff"/>
                </a:solidFill>
                <a:effectLst/>
                <a:uFillTx/>
                <a:latin typeface="Grandview Display"/>
              </a:rPr>
              <a:t>Oz Cabiri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IL" sz="1700" strike="noStrike" u="none">
                <a:solidFill>
                  <a:srgbClr val="ffffff"/>
                </a:solidFill>
                <a:effectLst/>
                <a:uFillTx/>
                <a:latin typeface="Grandview Display"/>
              </a:rPr>
              <a:t>Guy Harem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4680" cy="114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Topic 1: crypto arbitrage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000" cy="38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Problem: Cryptocurrency prices can vary across exchanges, creating opportunities for arbitrage, where traders exploit price differences to make a profit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Motivation: Exploiting arbitrage opportunities can maximize profits across different exchanges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Question: Can machine learning algorithms accurately identify arbitrage opportunities between multiple cryptocurrency exchanges using real-time price and volume data?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Goal: Develop a ML model to identify arbitrage opportunities in real-time between cryptocurrency exchanges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4680" cy="114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FEASIBILTY ANALYSIS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000" cy="38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Main Dataset: Binance and Coinbase Historical Market Data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Supporting Dataset: Kraken, Bitfinex, etc.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Dataset Features: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Available data: Open/Close Time, Open/High/Low/Close Price, Volume, Quote asset Volume, Number of Trades, Taker Buy Base/Quote Asset Volume, Ignore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All databases contain main features we need for the analysis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Datasets might not correlate exactly by timestamp, order and units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4680" cy="114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Proof of concept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652320" y="1843560"/>
            <a:ext cx="10620000" cy="38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  <a:tabLst>
                <a:tab algn="l" pos="0"/>
              </a:tabLst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Using ML we can believe we can identify these discrepancies and derive a model that will recognize them in real-time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  <a:tabLst>
                <a:tab algn="l" pos="0"/>
              </a:tabLst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Feature engineering: moving average, spread difference, high/low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685800" y="1828800"/>
            <a:ext cx="7772400" cy="2797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" descr=""/>
          <p:cNvPicPr/>
          <p:nvPr/>
        </p:nvPicPr>
        <p:blipFill>
          <a:blip r:embed="rId1"/>
          <a:stretch/>
        </p:blipFill>
        <p:spPr>
          <a:xfrm>
            <a:off x="34200" y="1143000"/>
            <a:ext cx="12106080" cy="4638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" descr=""/>
          <p:cNvPicPr/>
          <p:nvPr/>
        </p:nvPicPr>
        <p:blipFill>
          <a:blip r:embed="rId1"/>
          <a:stretch/>
        </p:blipFill>
        <p:spPr>
          <a:xfrm>
            <a:off x="1188000" y="0"/>
            <a:ext cx="10287000" cy="6906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4680" cy="114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Initial approach + workplan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000" cy="38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Get datasets with API✅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Adjust database structure and units to be uniform✅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Combine datasets✅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Clean outliers, irrelevant data and problematic entries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Data engineering: identify feature importance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Fine-tune ML algorithms to detect arbitrage opportunities 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Apply model on real-time data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4680" cy="114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Milestones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000" cy="38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Retrieve relevant datasets using APIs + merge datasets (P1)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Data engineering: decide on features, identify setbacks and consider possible solutions (P2)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Workable model on existing data (P3)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  <a:ea typeface="Microsoft YaHei"/>
              </a:rPr>
              <a:t>Deploy model on real-time data + d</a:t>
            </a: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erive conclusions on model’s accuracy and viability (final)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4680" cy="114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What does success look like?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000" cy="38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Consistently find arbitrage on historical data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Usable model to apply on real-time data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defTabSz="914400">
              <a:lnSpc>
                <a:spcPct val="120000"/>
              </a:lnSpc>
              <a:spcBef>
                <a:spcPts val="1001"/>
              </a:spcBef>
              <a:buNone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OR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Understand if arbitrage opportunities still exist in today’s market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4680" cy="114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Topic 2: Pump n’ Dump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000" cy="38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Problem: Pump n’ Dumps are where prices are artificially inflated before being rapidly sold off, misleading traders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Motivation: Identifying these patterns can help prevent market manipulation, improve trading strategies, and protect investors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Question: Can machine learning algorithms effectively detect pump-and-dump schemes in cryptocurrency markets across multiple exchanges using historical price and volume data?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Goal: Develop a machine learning model to detect pump-and-dump activities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4680" cy="114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FEASIBILTY ANALYSIS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000" cy="38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Main Dataset: Binance Historical Market Data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Supporting Dataset: Coinbase, Kraken, Bitfinex, etc.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Dataset Features: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Available data: Open/Close Time, Open/High/Low/Close Price, Volume, Quote asset Volume, Number of Trades, Taker Buy Base/Quote Asset Volume, Ignore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All databases contain main features we need for the analysis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Datasets might not correlate exactly by timestamp, order and units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4680" cy="114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Proof of concept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000" cy="38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  <a:tabLst>
                <a:tab algn="l" pos="0"/>
              </a:tabLst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We will try to train a ML model to identify patterns of known Pump n’ Dumps and derive a model that identifies those schemes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  <a:tabLst>
                <a:tab algn="l" pos="0"/>
              </a:tabLst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Possible identifiers: sudden spike in volume/price, fast reversal, abnormal candle stick patterns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4680" cy="114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Initial approach + workplan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000" cy="38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Get datasets with API✅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Adjust database structure and units to be uniform✅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Combine datasets✅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Clean outliers, irrelevant data and problematic entries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Data engineering: identify feature importance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Fine-tune ML algorithms to detect arbitrage opportunities 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Apply model on real-time data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4680" cy="114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Milestones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000" cy="38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Retrieve relevant datasets using APIs + merge datasets (P1)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Data engineering: decide on features, identify setbacks and consider possible solutions (P2)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Workable model on existing data (P3)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  <a:ea typeface="Microsoft YaHei"/>
              </a:rPr>
              <a:t>Deploy model on real-time data + d</a:t>
            </a: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erive conclusions on model’s accuracy and viability (final)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4680" cy="114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What does success look like?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000" cy="38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Consistently detect Pump n’ Dumps on historical data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Usable model to apply on real-time data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4680" cy="114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Arbitrage: Pros and Cons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000" cy="38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Pros: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Real-Time Profit Opportunities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Market Efficiency: Promotes efficient price discovery by reducing price differences between exchanges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Practical Application: Useful for algorithmic trading, providing real-world financial applications and insights into market dynamics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4680" cy="114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Arbitrage: Pros and Cons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000" cy="38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Cons: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Market Conditions: Arbitrage opportunities often exist only for very short periods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Transaction Costs: Profits from arbitrage can be eaten up by transaction fees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Requires Real-Time Data: Successful arbitrage detection demands access to live data feeds and low-latency algorithms, which may increase technical complexity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4680" cy="114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Pump n’ Dump: Pros and Cons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000" cy="38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Pros: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  <a:ea typeface="Microsoft YaHei"/>
              </a:rPr>
              <a:t>Market Integrity and Risk Mitigation: Helps identify manipulative activities, p</a:t>
            </a: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rotects investors from sudden possible significant losses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Wide Applicability: Relevant across all exchanges and assets, helping improve market oversight and trading strategies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High profile Pump n’ Dumps data exist and easy to find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4680" cy="114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Pump n’ Dump: Pros and Cons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000" cy="38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Cons: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Data Complexity: Identifying pump-and-dump schemes requires detailed, high-frequency data and complex pattern recognition, which can be difficult to model accurately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False Positives: Genuine market fluctuations or news-driven events might be mistakenly classified as pump-and-dump action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4680" cy="114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Questions?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itationVTI">
  <a:themeElements>
    <a:clrScheme name="Citation">
      <a:dk1>
        <a:srgbClr val="000000"/>
      </a:dk1>
      <a:lt1>
        <a:srgbClr val="ffffff"/>
      </a:lt1>
      <a:dk2>
        <a:srgbClr val="01375d"/>
      </a:dk2>
      <a:lt2>
        <a:srgbClr val="f3f2ef"/>
      </a:lt2>
      <a:accent1>
        <a:srgbClr val="29a3d2"/>
      </a:accent1>
      <a:accent2>
        <a:srgbClr val="0669ac"/>
      </a:accent2>
      <a:accent3>
        <a:srgbClr val="fd891c"/>
      </a:accent3>
      <a:accent4>
        <a:srgbClr val="fd6927"/>
      </a:accent4>
      <a:accent5>
        <a:srgbClr val="f95131"/>
      </a:accent5>
      <a:accent6>
        <a:srgbClr val="ce5fae"/>
      </a:accent6>
      <a:hlink>
        <a:srgbClr val="0f8ec1"/>
      </a:hlink>
      <a:folHlink>
        <a:srgbClr val="dc6400"/>
      </a:folHlink>
    </a:clrScheme>
    <a:fontScheme name="Grandview">
      <a:majorFont>
        <a:latin typeface="Grandview" pitchFamily="0" charset="1"/>
        <a:ea typeface=""/>
        <a:cs typeface=""/>
      </a:majorFont>
      <a:minorFont>
        <a:latin typeface="Grandview Display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1444</TotalTime>
  <Application>LibreOffice/25.2.6.2$Windows_X86_64 LibreOffice_project/729c5bfe710f5eb71ed3bbde9e06a6065e9c6c5d</Application>
  <AppVersion>15.0000</AppVersion>
  <Words>100</Words>
  <Paragraphs>12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2025-11-18T12:11:01Z</dcterms:created>
  <dc:creator>Guy Harem</dc:creator>
  <dc:description/>
  <dc:language>en-US</dc:language>
  <cp:lastModifiedBy/>
  <dcterms:modified xsi:type="dcterms:W3CDTF">2025-11-22T19:23:01Z</dcterms:modified>
  <cp:revision>23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3</vt:i4>
  </property>
</Properties>
</file>